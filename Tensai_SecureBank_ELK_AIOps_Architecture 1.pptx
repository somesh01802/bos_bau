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1097280"/>
            <a:ext cx="10881360" cy="1051560"/>
          </a:xfrm>
          <a:prstGeom prst="round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3400" b="1">
                <a:solidFill>
                  <a:srgbClr val="1F2937"/>
                </a:solidFill>
              </a:defRPr>
            </a:pPr>
            <a:r>
              <a:t>TENSAI SECUREBANK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2563EB"/>
                </a:solidFill>
              </a:defRPr>
            </a:pPr>
            <a:r>
              <a:t>Secure Digital Banking Application</a:t>
            </a:r>
            <a:br/>
            <a:r>
              <a:t>with ELK Observability &amp; AIOps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931920"/>
            <a:ext cx="9418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B7280"/>
                </a:solidFill>
              </a:defRPr>
            </a:pPr>
            <a:r>
              <a:t>Application health • Security events • Synthetic monitoring • APM • Infrastructure • AIOps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1. Business &amp; Project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• Replace the existing e-commerce demo with a secure digital-banking application.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• Monitor application performance and availability without exposing customer financial data.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• Centralize logs, metrics, traces and synthetic-monitoring results in Elasticsearch/Kibana.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• Correlate application, database, infrastructure and security events for AIOps.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• Provide operational visibility through aggregated and anonymized KPIs.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2. SecureBank Application Scope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43000"/>
            <a:ext cx="4983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>
                <a:solidFill>
                  <a:srgbClr val="1F2937"/>
                </a:solidFill>
              </a:defRPr>
            </a:pPr>
            <a:r>
              <a:t>Login &amp; Authentication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618488"/>
            <a:ext cx="4526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B7280"/>
                </a:solidFill>
              </a:defRPr>
            </a:pPr>
            <a:r>
              <a:t>Secure login, session handling, authentication events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59" y="1143000"/>
            <a:ext cx="4983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>
                <a:solidFill>
                  <a:srgbClr val="1F2937"/>
                </a:solidFill>
              </a:defRPr>
            </a:pPr>
            <a:r>
              <a:t>Banking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959" y="1618488"/>
            <a:ext cx="4526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B7280"/>
                </a:solidFill>
              </a:defRPr>
            </a:pPr>
            <a:r>
              <a:t>Operational status only; no sensitive financial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51760"/>
            <a:ext cx="4983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>
                <a:solidFill>
                  <a:srgbClr val="1F2937"/>
                </a:solidFill>
              </a:defRPr>
            </a:pPr>
            <a:r>
              <a:t>Account Service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127248"/>
            <a:ext cx="4526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B7280"/>
                </a:solidFill>
              </a:defRPr>
            </a:pPr>
            <a:r>
              <a:t>Account status and service health; masked identifiers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2651760"/>
            <a:ext cx="4983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>
                <a:solidFill>
                  <a:srgbClr val="1F2937"/>
                </a:solidFill>
              </a:defRPr>
            </a:pPr>
            <a:r>
              <a:t>Transfer 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59" y="3127248"/>
            <a:ext cx="4526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B7280"/>
                </a:solidFill>
              </a:defRPr>
            </a:pPr>
            <a:r>
              <a:t>Transaction status/counts, latency and failures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60520"/>
            <a:ext cx="4983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>
                <a:solidFill>
                  <a:srgbClr val="1F2937"/>
                </a:solidFill>
              </a:defRPr>
            </a:pPr>
            <a:r>
              <a:t>Payment 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636008"/>
            <a:ext cx="4526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B7280"/>
                </a:solidFill>
              </a:defRPr>
            </a:pPr>
            <a:r>
              <a:t>Payment success/failure metrics without payment details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4160520"/>
            <a:ext cx="4983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>
                <a:solidFill>
                  <a:srgbClr val="1F2937"/>
                </a:solidFill>
              </a:defRPr>
            </a:pPr>
            <a:r>
              <a:t>Transaction 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59" y="4636008"/>
            <a:ext cx="4526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B7280"/>
                </a:solidFill>
              </a:defRPr>
            </a:pPr>
            <a:r>
              <a:t>Synthetic/masked demo activity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3. SecureBank – Application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280"/>
                </a:solidFill>
              </a:defRPr>
            </a:pPr>
            <a:r>
              <a:t>Synthetic/demo data only; sensitive banking information stays outside telemetry.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63440" y="1051560"/>
            <a:ext cx="2834640" cy="594360"/>
          </a:xfrm>
          <a:prstGeom prst="roundRect">
            <a:avLst/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Web / Mobile UI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45920"/>
            <a:ext cx="0" cy="320040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663440" y="1965960"/>
            <a:ext cx="283464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API Gateway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063240"/>
            <a:ext cx="16002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1F2937"/>
                </a:solidFill>
              </a:defRPr>
            </a:pPr>
            <a:r>
              <a:t>Authentication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1714500" y="2560320"/>
            <a:ext cx="4366260" cy="502920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108960" y="3063240"/>
            <a:ext cx="16002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1F2937"/>
                </a:solidFill>
              </a:defRPr>
            </a:pPr>
            <a:r>
              <a:t>Account Service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3909060" y="2560320"/>
            <a:ext cx="2171700" cy="502920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303520" y="3063240"/>
            <a:ext cx="16002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1F2937"/>
                </a:solidFill>
              </a:defRPr>
            </a:pPr>
            <a:r>
              <a:t>Transfer Service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80760" y="2560320"/>
            <a:ext cx="22860" cy="502920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98079" y="3063240"/>
            <a:ext cx="16002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1F2937"/>
                </a:solidFill>
              </a:defRPr>
            </a:pPr>
            <a:r>
              <a:t>Payment Service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80760" y="2560320"/>
            <a:ext cx="2217419" cy="502920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692640" y="3063240"/>
            <a:ext cx="16002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1F2937"/>
                </a:solidFill>
              </a:defRPr>
            </a:pPr>
            <a:r>
              <a:t>Notification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80760" y="2560320"/>
            <a:ext cx="4411980" cy="502920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840480" y="4572000"/>
            <a:ext cx="192024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1F2937"/>
                </a:solidFill>
              </a:defRPr>
            </a:pPr>
            <a:r>
              <a:t>Application DB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4572000"/>
            <a:ext cx="192024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1F2937"/>
                </a:solidFill>
              </a:defRPr>
            </a:pPr>
            <a:r>
              <a:t>Cache / Queue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714500" y="3840480"/>
            <a:ext cx="3086100" cy="731520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909060" y="3840480"/>
            <a:ext cx="891540" cy="731520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4800600" y="3840480"/>
            <a:ext cx="1303020" cy="731520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4800600" y="3840480"/>
            <a:ext cx="3497579" cy="731520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4800600" y="3840480"/>
            <a:ext cx="5692140" cy="731520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977639" y="5532120"/>
            <a:ext cx="4251960" cy="594360"/>
          </a:xfrm>
          <a:prstGeom prst="round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1F2937"/>
                </a:solidFill>
              </a:defRPr>
            </a:pPr>
            <a:r>
              <a:t>Telemetry: Logs • Metrics • Traces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800600" y="5257800"/>
            <a:ext cx="0" cy="274320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406640" y="5257800"/>
            <a:ext cx="0" cy="274320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4. ELK / Observability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43000" y="1097280"/>
            <a:ext cx="9875520" cy="658368"/>
          </a:xfrm>
          <a:prstGeom prst="roundRect">
            <a:avLst/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>
                <a:solidFill>
                  <a:srgbClr val="1F2937"/>
                </a:solidFill>
              </a:defRPr>
            </a:pPr>
            <a:r>
              <a:t>SecureBank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1490472"/>
            <a:ext cx="6675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B7280"/>
                </a:solidFill>
              </a:defRPr>
            </a:pPr>
            <a:r>
              <a:t>Web UI + API Gateway + Services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755648"/>
            <a:ext cx="0" cy="301752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143000" y="2057400"/>
            <a:ext cx="98755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>
                <a:solidFill>
                  <a:srgbClr val="1F2937"/>
                </a:solidFill>
              </a:defRPr>
            </a:pPr>
            <a:r>
              <a:t>Telemetry Collection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450592"/>
            <a:ext cx="6675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B7280"/>
                </a:solidFill>
              </a:defRPr>
            </a:pPr>
            <a:r>
              <a:t>Elastic Agent • APM/OpenTelemetry • Synthetic Monitoring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80760" y="2715768"/>
            <a:ext cx="0" cy="301752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143000" y="3017520"/>
            <a:ext cx="98755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>
                <a:solidFill>
                  <a:srgbClr val="1F2937"/>
                </a:solidFill>
              </a:defRPr>
            </a:pPr>
            <a:r>
              <a:t>Ingestion &amp; Storage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410712"/>
            <a:ext cx="6675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B7280"/>
                </a:solidFill>
              </a:defRPr>
            </a:pPr>
            <a:r>
              <a:t>Elasticsearch • Data Streams / Indexes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80760" y="3675887"/>
            <a:ext cx="0" cy="301752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143000" y="3977640"/>
            <a:ext cx="98755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>
                <a:solidFill>
                  <a:srgbClr val="1F2937"/>
                </a:solidFill>
              </a:defRPr>
            </a:pPr>
            <a:r>
              <a:t>Visualization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4370832"/>
            <a:ext cx="6675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B7280"/>
                </a:solidFill>
              </a:defRPr>
            </a:pPr>
            <a:r>
              <a:t>Kibana Dashboards • Discover • APM • Synthetics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80760" y="4636008"/>
            <a:ext cx="0" cy="301752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143000" y="4937760"/>
            <a:ext cx="98755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>
                <a:solidFill>
                  <a:srgbClr val="1F2937"/>
                </a:solidFill>
              </a:defRPr>
            </a:pPr>
            <a:r>
              <a:t>Operations &amp; AIOps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5330952"/>
            <a:ext cx="6675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B7280"/>
                </a:solidFill>
              </a:defRPr>
            </a:pPr>
            <a:r>
              <a:t>Rules • Correlation • Anomaly Detection • Incident 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5. SecureBank ELK Dashboard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43000"/>
            <a:ext cx="33375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1F2937"/>
                </a:solidFill>
              </a:defRPr>
            </a:pPr>
            <a:r>
              <a:t>Active Sessions</a:t>
            </a:r>
            <a:br/>
            <a:r>
              <a:t>2,450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34840" y="1143000"/>
            <a:ext cx="33375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1F2937"/>
                </a:solidFill>
              </a:defRPr>
            </a:pPr>
            <a:r>
              <a:t>API Requests</a:t>
            </a:r>
            <a:br/>
            <a:r>
              <a:t>125K/min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143000"/>
            <a:ext cx="33375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1F2937"/>
                </a:solidFill>
              </a:defRPr>
            </a:pPr>
            <a:r>
              <a:t>Error Rate</a:t>
            </a:r>
            <a:br/>
            <a:r>
              <a:t>0.7%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33375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1F2937"/>
                </a:solidFill>
              </a:defRPr>
            </a:pPr>
            <a:r>
              <a:t>Availability</a:t>
            </a:r>
            <a:br/>
            <a:r>
              <a:t>99.98%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2240280"/>
            <a:ext cx="33375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1F2937"/>
                </a:solidFill>
              </a:defRPr>
            </a:pPr>
            <a:r>
              <a:t>Failed Logins</a:t>
            </a:r>
            <a:br/>
            <a:r>
              <a:t>125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2240280"/>
            <a:ext cx="33375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1F2937"/>
                </a:solidFill>
              </a:defRPr>
            </a:pPr>
            <a:r>
              <a:t>Critical Alerts</a:t>
            </a:r>
            <a:br/>
            <a: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520440"/>
            <a:ext cx="52120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1F2937"/>
                </a:solidFill>
              </a:defRPr>
            </a:pPr>
            <a:r>
              <a:t>APPLICATION PERFORMANCE</a:t>
            </a:r>
            <a:br/>
            <a:br/>
            <a:r>
              <a:t>P95 Latency     820 ms</a:t>
            </a:r>
            <a:br/>
            <a:r>
              <a:t>Requests/sec   2,080</a:t>
            </a:r>
            <a:br/>
            <a:r>
              <a:t>5xx Rate       0.3%</a:t>
            </a:r>
            <a:br/>
            <a:r>
              <a:t>Service Health  4/4 Healthy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520440"/>
            <a:ext cx="53949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1F2937"/>
                </a:solidFill>
              </a:defRPr>
            </a:pPr>
            <a:r>
              <a:t>SECURITY &amp; AIOPS</a:t>
            </a:r>
            <a:br/>
            <a:br/>
            <a:r>
              <a:t>Failed Login Events      125</a:t>
            </a:r>
            <a:br/>
            <a:r>
              <a:t>Unauthorized Requests     32</a:t>
            </a:r>
            <a:br/>
            <a:r>
              <a:t>Suspicious Events           8</a:t>
            </a:r>
            <a:br/>
            <a:r>
              <a:t>Correlated Incidents       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6. Security &amp; Data Protection Principles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52120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100" b="1">
                <a:solidFill>
                  <a:srgbClr val="1F2937"/>
                </a:solidFill>
              </a:defRPr>
            </a:pPr>
            <a:r>
              <a:t>DO NOT INGEST INTO ELK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828800"/>
            <a:ext cx="45720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• Real customer names / PII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• Actual account numbers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• Card numbers / CVV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• Passwords / OTPs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• Actual balances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• Transaction amounts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• Banking credentials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097280"/>
            <a:ext cx="52120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100" b="1">
                <a:solidFill>
                  <a:srgbClr val="1F2937"/>
                </a:solidFill>
              </a:defRPr>
            </a:pPr>
            <a:r>
              <a:t>SEND SAFE TELEMETRY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828800"/>
            <a:ext cx="45720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• Aggregated counts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• Masked / synthetic IDs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• Request and trace IDs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• Service and operation names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• Latency and status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• Error codes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• Security-event metadata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7. Synthetic Monitoring Journeys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143000"/>
            <a:ext cx="2468880" cy="731520"/>
          </a:xfrm>
          <a:prstGeom prst="roundRect">
            <a:avLst/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Login Journey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1508760"/>
            <a:ext cx="594360" cy="0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977639" y="1143000"/>
            <a:ext cx="69494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0">
                <a:solidFill>
                  <a:srgbClr val="1F2937"/>
                </a:solidFill>
              </a:defRPr>
            </a:pPr>
            <a:r>
              <a:t>Open portal → Login → Verify session → 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2468880" cy="731520"/>
          </a:xfrm>
          <a:prstGeom prst="roundRect">
            <a:avLst/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Account Journey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91840" y="2651760"/>
            <a:ext cx="594360" cy="0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977639" y="2286000"/>
            <a:ext cx="69494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0">
                <a:solidFill>
                  <a:srgbClr val="1F2937"/>
                </a:solidFill>
              </a:defRPr>
            </a:pPr>
            <a:r>
              <a:t>Login → Accounts → Verify service response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429000"/>
            <a:ext cx="2468880" cy="731520"/>
          </a:xfrm>
          <a:prstGeom prst="roundRect">
            <a:avLst/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Transfer Journey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91840" y="3794760"/>
            <a:ext cx="594360" cy="0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977639" y="3429000"/>
            <a:ext cx="69494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0">
                <a:solidFill>
                  <a:srgbClr val="1F2937"/>
                </a:solidFill>
              </a:defRPr>
            </a:pPr>
            <a:r>
              <a:t>Login → Transfer → Submit demo transaction → Verify status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572000"/>
            <a:ext cx="2468880" cy="731520"/>
          </a:xfrm>
          <a:prstGeom prst="roundRect">
            <a:avLst/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Logout Journey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91840" y="4937760"/>
            <a:ext cx="594360" cy="0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977639" y="4572000"/>
            <a:ext cx="69494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0">
                <a:solidFill>
                  <a:srgbClr val="1F2937"/>
                </a:solidFill>
              </a:defRPr>
            </a:pPr>
            <a:r>
              <a:t>Logout → Verify session invalidation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8. APM &amp; Distributed Transaction Monitoring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920240" cy="777240"/>
          </a:xfrm>
          <a:prstGeom prst="roundRect">
            <a:avLst/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POST /transfer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651760" y="1847088"/>
            <a:ext cx="320040" cy="0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71800" y="1463040"/>
            <a:ext cx="1874519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1F2937"/>
                </a:solidFill>
              </a:defRPr>
            </a:pPr>
            <a:r>
              <a:t>Authentication</a:t>
            </a:r>
            <a:br/>
            <a:r>
              <a:t>45 ms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892040" y="1847088"/>
            <a:ext cx="228600" cy="0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120640" y="1463040"/>
            <a:ext cx="1874519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1F2937"/>
                </a:solidFill>
              </a:defRPr>
            </a:pPr>
            <a:r>
              <a:t>Account Validation</a:t>
            </a:r>
            <a:br/>
            <a:r>
              <a:t>80 ms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040880" y="1847088"/>
            <a:ext cx="228600" cy="0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269480" y="1463040"/>
            <a:ext cx="1874519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1F2937"/>
                </a:solidFill>
              </a:defRPr>
            </a:pPr>
            <a:r>
              <a:t>Transaction DB</a:t>
            </a:r>
            <a:br/>
            <a:r>
              <a:t>220 ms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89720" y="1847088"/>
            <a:ext cx="228600" cy="0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418320" y="1463040"/>
            <a:ext cx="1874519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1F2937"/>
                </a:solidFill>
              </a:defRPr>
            </a:pPr>
            <a:r>
              <a:t>Notification</a:t>
            </a:r>
            <a:br/>
            <a:r>
              <a:t>30 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80360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1F2937"/>
                </a:solidFill>
              </a:defRPr>
            </a:pPr>
            <a:r>
              <a:t>ELK can identify which service contributes most to latency or failure.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0" y="3886200"/>
            <a:ext cx="85039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>
                <a:solidFill>
                  <a:srgbClr val="1F2937"/>
                </a:solidFill>
              </a:defRPr>
            </a:pPr>
            <a:r>
              <a:t>Transfer latency ↑  →  Transaction DB latency ↑  →  DB connection/lock issue identified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9. AIOps Correlation &amp; Root Cause Example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39319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1F2937"/>
                </a:solidFill>
              </a:defRPr>
            </a:pPr>
            <a:r>
              <a:t>Failed transfers ↑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709160" y="1261872"/>
            <a:ext cx="777240" cy="0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31520" y="1755648"/>
            <a:ext cx="39319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1F2937"/>
                </a:solidFill>
              </a:defRPr>
            </a:pPr>
            <a:r>
              <a:t>HTTP 5xx ↑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709160" y="2011679"/>
            <a:ext cx="777240" cy="0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31520" y="2505456"/>
            <a:ext cx="39319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1F2937"/>
                </a:solidFill>
              </a:defRPr>
            </a:pPr>
            <a:r>
              <a:t>Transaction API latency ↑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709160" y="2761487"/>
            <a:ext cx="777240" cy="0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31520" y="3255264"/>
            <a:ext cx="39319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1F2937"/>
                </a:solidFill>
              </a:defRPr>
            </a:pPr>
            <a:r>
              <a:t>Database query latency ↑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709160" y="3511296"/>
            <a:ext cx="777240" cy="0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31520" y="4005072"/>
            <a:ext cx="39319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1F2937"/>
                </a:solidFill>
              </a:defRPr>
            </a:pPr>
            <a:r>
              <a:t>DB connection pool exhausted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1828800"/>
            <a:ext cx="5212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>
                <a:solidFill>
                  <a:srgbClr val="1F2937"/>
                </a:solidFill>
              </a:defRPr>
            </a:pPr>
            <a:r>
              <a:t>CORRELATED INCIDENT</a:t>
            </a:r>
            <a:br/>
            <a:br/>
            <a:r>
              <a:t>Transaction Service Degraded</a:t>
            </a:r>
            <a:br/>
            <a:br/>
            <a:r>
              <a:t>Root Cause Candidate: Database connection exhaustion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0" y="3886200"/>
            <a:ext cx="52120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1F2937"/>
                </a:solidFill>
              </a:defRPr>
            </a:pPr>
            <a:r>
              <a:t>Impact: Transfer operations degraded</a:t>
            </a:r>
            <a:br/>
            <a:r>
              <a:t>Action: Investigate DB connections / pool / locks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10. Alerting Use Cases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188720"/>
            <a:ext cx="5074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1F2937"/>
                </a:solidFill>
              </a:defRPr>
            </a:pPr>
            <a:r>
              <a:t>🔴 Critical</a:t>
            </a:r>
            <a:br/>
            <a:r>
              <a:t>Authentication service unavailable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46520" y="1188720"/>
            <a:ext cx="5074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1F2937"/>
                </a:solidFill>
              </a:defRPr>
            </a:pPr>
            <a:r>
              <a:t>🔴 Critical</a:t>
            </a:r>
            <a:br/>
            <a:r>
              <a:t>Transfer API 5xx rate above threshold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14600"/>
            <a:ext cx="5074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1F2937"/>
                </a:solidFill>
              </a:defRPr>
            </a:pPr>
            <a:r>
              <a:t>🟡 Warning</a:t>
            </a:r>
            <a:br/>
            <a:r>
              <a:t>P95 API latency increased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2514600"/>
            <a:ext cx="5074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1F2937"/>
                </a:solidFill>
              </a:defRPr>
            </a:pPr>
            <a:r>
              <a:t>🟡 Warning</a:t>
            </a:r>
            <a:br/>
            <a:r>
              <a:t>Failed login rate anomaly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840480"/>
            <a:ext cx="5074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1F2937"/>
                </a:solidFill>
              </a:defRPr>
            </a:pPr>
            <a:r>
              <a:t>🟡 Warning</a:t>
            </a:r>
            <a:br/>
            <a:r>
              <a:t>Database connection utilization high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3840480"/>
            <a:ext cx="5074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1F2937"/>
                </a:solidFill>
              </a:defRPr>
            </a:pPr>
            <a:r>
              <a:t>🟢 Recovery</a:t>
            </a:r>
            <a:br/>
            <a:r>
              <a:t>Service / database recovered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11. Implementation Plan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51560"/>
            <a:ext cx="1645920" cy="530352"/>
          </a:xfrm>
          <a:prstGeom prst="roundRect">
            <a:avLst/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1F2937"/>
                </a:solidFill>
              </a:defRPr>
            </a:pPr>
            <a:r>
              <a:t>Phase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06040" y="1051560"/>
            <a:ext cx="87782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0">
                <a:solidFill>
                  <a:srgbClr val="1F2937"/>
                </a:solidFill>
              </a:defRPr>
            </a:pPr>
            <a:r>
              <a:t>Build SecureBank demo UI + APIs + synthetic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645920" cy="530352"/>
          </a:xfrm>
          <a:prstGeom prst="roundRect">
            <a:avLst/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1F2937"/>
                </a:solidFill>
              </a:defRPr>
            </a:pPr>
            <a:r>
              <a:t>Phase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06040" y="1828800"/>
            <a:ext cx="87782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0">
                <a:solidFill>
                  <a:srgbClr val="1F2937"/>
                </a:solidFill>
              </a:defRPr>
            </a:pPr>
            <a:r>
              <a:t>Deploy application services and database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06039"/>
            <a:ext cx="1645920" cy="530352"/>
          </a:xfrm>
          <a:prstGeom prst="roundRect">
            <a:avLst/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1F2937"/>
                </a:solidFill>
              </a:defRPr>
            </a:pPr>
            <a:r>
              <a:t>Phase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06040" y="2606039"/>
            <a:ext cx="87782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0">
                <a:solidFill>
                  <a:srgbClr val="1F2937"/>
                </a:solidFill>
              </a:defRPr>
            </a:pPr>
            <a:r>
              <a:t>Integrate Elastic Agent + APM/OpenTelemetry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83279"/>
            <a:ext cx="1645920" cy="530352"/>
          </a:xfrm>
          <a:prstGeom prst="roundRect">
            <a:avLst/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1F2937"/>
                </a:solidFill>
              </a:defRPr>
            </a:pPr>
            <a:r>
              <a:t>Phase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06040" y="3383279"/>
            <a:ext cx="87782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0">
                <a:solidFill>
                  <a:srgbClr val="1F2937"/>
                </a:solidFill>
              </a:defRPr>
            </a:pPr>
            <a:r>
              <a:t>Create Kibana dashboards and synthetic journeys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60520"/>
            <a:ext cx="1645920" cy="530352"/>
          </a:xfrm>
          <a:prstGeom prst="roundRect">
            <a:avLst/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1F2937"/>
                </a:solidFill>
              </a:defRPr>
            </a:pPr>
            <a:r>
              <a:t>Phase 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06040" y="4160520"/>
            <a:ext cx="87782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0">
                <a:solidFill>
                  <a:srgbClr val="1F2937"/>
                </a:solidFill>
              </a:defRPr>
            </a:pPr>
            <a:r>
              <a:t>Create alerts, correlations and AIOps scenarios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937760"/>
            <a:ext cx="1645920" cy="530352"/>
          </a:xfrm>
          <a:prstGeom prst="roundRect">
            <a:avLst/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1F2937"/>
                </a:solidFill>
              </a:defRPr>
            </a:pPr>
            <a:r>
              <a:t>Phase 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06040" y="4937760"/>
            <a:ext cx="87782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0">
                <a:solidFill>
                  <a:srgbClr val="1F2937"/>
                </a:solidFill>
              </a:defRPr>
            </a:pPr>
            <a:r>
              <a:t>Demonstrate failure injection → detection → RCA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12. Expected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34440"/>
            <a:ext cx="104241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• Completely new application domain replacing Tensai Shop.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• Secure-by-design observability with no sensitive banking data in ELK.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• End-to-end visibility across application, API, database and infrastructure.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• Synthetic monitoring for critical user journeys.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• APM for service-level latency and failure analysis.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• Security-event visibility using aggregated/anonymized telemetry.</a:t>
            </a:r>
          </a:p>
          <a:p>
            <a:pPr>
              <a:spcAft>
                <a:spcPts val="800"/>
              </a:spcAft>
              <a:defRPr sz="1900">
                <a:solidFill>
                  <a:srgbClr val="1F2937"/>
                </a:solidFill>
              </a:defRPr>
            </a:pPr>
            <a:r>
              <a:t>• AIOps correlation to identify service degradation and likely root cause.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20240" y="5532120"/>
            <a:ext cx="8412480" cy="594360"/>
          </a:xfrm>
          <a:prstGeom prst="round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>
                <a:solidFill>
                  <a:srgbClr val="1F2937"/>
                </a:solidFill>
              </a:defRPr>
            </a:pPr>
            <a:r>
              <a:t>Secure Application  →  Observability  →  AIOps  →  Faster Detection &amp; RCA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